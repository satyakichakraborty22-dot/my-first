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914400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36576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70436F"/>
                </a:solidFill>
                <a:latin typeface="Aptos"/>
              </a:rPr>
              <a:t>ODOO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960120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6304A"/>
                </a:solidFill>
                <a:latin typeface="Aptos"/>
              </a:rPr>
              <a:t>Functional Project &amp; Business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926080"/>
            <a:ext cx="96926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666E7B"/>
                </a:solidFill>
                <a:latin typeface="Aptos"/>
              </a:rPr>
              <a:t>Company Setup • Contacts • Inventory • Sales • Employees •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520440"/>
            <a:ext cx="7315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99A0"/>
                </a:solidFill>
                <a:latin typeface="Aptos"/>
              </a:rPr>
              <a:t>Project demonstrated using SC Trading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43400"/>
            <a:ext cx="2103120" cy="56692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43984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4343400"/>
            <a:ext cx="2103120" cy="566928"/>
          </a:xfrm>
          <a:prstGeom prst="round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4443984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MASTER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4343400"/>
            <a:ext cx="2103120" cy="566928"/>
          </a:xfrm>
          <a:prstGeom prst="roundRect">
            <a:avLst/>
          </a:prstGeom>
          <a:solidFill>
            <a:srgbClr val="26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4443984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343400"/>
            <a:ext cx="2103120" cy="566928"/>
          </a:xfrm>
          <a:prstGeom prst="roundRect">
            <a:avLst/>
          </a:prstGeom>
          <a:solidFill>
            <a:srgbClr val="3D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4443984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230368"/>
            <a:ext cx="5486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3272F"/>
                </a:solidFill>
                <a:latin typeface="Aptos"/>
              </a:rPr>
              <a:t>Prepared by Satyaki Chakraborty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559552"/>
            <a:ext cx="6400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66E7B"/>
                </a:solidFill>
                <a:latin typeface="Aptos"/>
              </a:rPr>
              <a:t>Odoo Functional Learning &amp; Practical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300" b="1">
                <a:solidFill>
                  <a:srgbClr val="70436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Project Scope &amp;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The project demonstrates a connected Odoo business workflow from setup to quotation.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554480"/>
            <a:ext cx="475488" cy="475488"/>
          </a:xfrm>
          <a:prstGeom prst="ellipse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4754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48840"/>
            <a:ext cx="1143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23272F"/>
                </a:solidFill>
                <a:latin typeface="Aptos"/>
              </a:rPr>
              <a:t>Company
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773936"/>
            <a:ext cx="1078992" cy="45720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21992" y="1554480"/>
            <a:ext cx="475488" cy="475488"/>
          </a:xfrm>
          <a:prstGeom prst="ellipse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2" y="1645920"/>
            <a:ext cx="4754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148840"/>
            <a:ext cx="1143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23272F"/>
                </a:solidFill>
                <a:latin typeface="Aptos"/>
              </a:rPr>
              <a:t>Contacts &amp;
Partners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1773936"/>
            <a:ext cx="1078992" cy="45720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9624" y="1554480"/>
            <a:ext cx="475488" cy="475488"/>
          </a:xfrm>
          <a:prstGeom prst="ellipse">
            <a:avLst/>
          </a:prstGeom>
          <a:solidFill>
            <a:srgbClr val="26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9624" y="1645920"/>
            <a:ext cx="4754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148840"/>
            <a:ext cx="1143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23272F"/>
                </a:solidFill>
                <a:latin typeface="Aptos"/>
              </a:rPr>
              <a:t>Products &amp;
Inventory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2544" y="1773936"/>
            <a:ext cx="1078992" cy="45720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77256" y="1554480"/>
            <a:ext cx="475488" cy="475488"/>
          </a:xfrm>
          <a:prstGeom prst="ellipse">
            <a:avLst/>
          </a:prstGeom>
          <a:solidFill>
            <a:srgbClr val="3D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7256" y="1645920"/>
            <a:ext cx="4754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148840"/>
            <a:ext cx="1143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23272F"/>
                </a:solidFill>
                <a:latin typeface="Aptos"/>
              </a:rPr>
              <a:t>Employee &amp;
Teams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0176" y="1773936"/>
            <a:ext cx="1078992" cy="45720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04888" y="1554480"/>
            <a:ext cx="475488" cy="475488"/>
          </a:xfrm>
          <a:prstGeom prst="ellipse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1645920"/>
            <a:ext cx="4754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148840"/>
            <a:ext cx="1143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23272F"/>
                </a:solidFill>
                <a:latin typeface="Aptos"/>
              </a:rPr>
              <a:t>CRM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1773936"/>
            <a:ext cx="1078992" cy="45720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32520" y="1554480"/>
            <a:ext cx="475488" cy="475488"/>
          </a:xfrm>
          <a:prstGeom prst="ellipse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1645920"/>
            <a:ext cx="4754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48840"/>
            <a:ext cx="1143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23272F"/>
                </a:solidFill>
                <a:latin typeface="Aptos"/>
              </a:rPr>
              <a:t>Opportunity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773936"/>
            <a:ext cx="1078992" cy="45720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60152" y="1554480"/>
            <a:ext cx="475488" cy="475488"/>
          </a:xfrm>
          <a:prstGeom prst="ellipse">
            <a:avLst/>
          </a:prstGeom>
          <a:solidFill>
            <a:srgbClr val="26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60152" y="1645920"/>
            <a:ext cx="47548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148840"/>
            <a:ext cx="1143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23272F"/>
                </a:solidFill>
                <a:latin typeface="Aptos"/>
              </a:rPr>
              <a:t>Quotation /
Sales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1546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31927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70436F"/>
                </a:solidFill>
                <a:latin typeface="Aptos"/>
              </a:rPr>
              <a:t>Master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639312"/>
            <a:ext cx="46634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Company, customers, suppliers, products and employees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15468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31927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70436F"/>
                </a:solidFill>
                <a:latin typeface="Aptos"/>
              </a:rPr>
              <a:t>Inventory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639312"/>
            <a:ext cx="46634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Product type, stock tracking, pricing and taxes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4805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64515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70436F"/>
                </a:solidFill>
                <a:latin typeface="Aptos"/>
              </a:rPr>
              <a:t>CRM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965192"/>
            <a:ext cx="46634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Lead creation, qualification and conversion to opportunity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4805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64515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70436F"/>
                </a:solidFill>
                <a:latin typeface="Aptos"/>
              </a:rPr>
              <a:t>Sales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965192"/>
            <a:ext cx="46634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Quotation creation with quantities, prices and GST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1: Company Setup – SC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1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8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83" y="1298448"/>
            <a:ext cx="6267033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Created the company profile for SC Trading.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Configured business location, currency and company details.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Added company logo and basic communication information.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Prepared the company environment for the remaining Odoo modules.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01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2: Customer Contact – Satyaki Pvt. Ltd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2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8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1588"/>
            <a:ext cx="7452360" cy="48857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Created a customer/company contact: Satyaki Pvt. Ltd.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Added address, phone and email information.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Set GST Treatment as an unregistered business for the demo.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Established the customer master record for CRM and Sales.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02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3: Supplier Contact – S.C. Global Services and Suppliers Pvt. Ltd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3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8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898"/>
            <a:ext cx="7452360" cy="41531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Created a supplier/vendor contact.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Entered supplier address, phone and email details.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Prepared the supplier master data for purchasing activities.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Demonstrates separation of customer and supplier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03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4: Contacts Directory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4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8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79763"/>
            <a:ext cx="7452360" cy="3129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Reviewed the complete Contacts master list.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Maintained individual and company records in one centralized place.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Contacts are available for Sales, CRM and Purchase workflows.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Used Odoo's search/list interface to manage business partners.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04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5: Product Master – Mobile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5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8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66" y="1298448"/>
            <a:ext cx="7374066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Created the Mobile Phone product as a storable good.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Enabled Sales and Purchase operations and inventory tracking.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Set sales price at ₹30,000 and cost at ₹25,000.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Applied 5% GST for sales and purchase and assigned the Electronics category.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05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6: Sales Product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6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8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4997"/>
            <a:ext cx="7452360" cy="19989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Created and reviewed the Sales product catalogue.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Configured products such as Mobile Phone, Mobile Charger and T.V. UNIT.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Set product prices and monitored on-hand quantities.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Prepared the catalogue for quotation and sales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06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7: Employee Master – Satyaki Chakraborty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7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8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60" y="1298448"/>
            <a:ext cx="6751278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Created an employee profile for Satyaki Chakraborty.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Assigned the employee to the Administration department.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Configured manager/coach relationships.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Used the employee master to maintain HR information and skills.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07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8: CRM Lead – Mobile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8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8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55" y="1298448"/>
            <a:ext cx="7239088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Created a CRM lead for a Mobile Phone requirement.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Captured customer information and contact details.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Assigned the lead to Satyaki Chakraborty and the Sales team.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Recorded probability and priority to support lead qualification.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08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9: Lead Conversion –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9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9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5878"/>
            <a:ext cx="7452360" cy="38571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Converted the qualified CRM lead into an opportunity.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Assigned the opportunity to the Salesperson and Sales team.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Linked the opportunity to the existing customer Arindam Das.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This connects lead qualification with the sales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09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Step 10: Sales Quotation – Mobile Phone Purchase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Screenshot 10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52728"/>
            <a:ext cx="7543800" cy="49834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39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90" y="1298448"/>
            <a:ext cx="6179418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298448"/>
            <a:ext cx="3520440" cy="4892040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72768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Work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Created quotation S00002 for customer Arindam Das.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Added Mobile Phone and T.V. UNIT as order lines.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Used quantity 50 for each product in the demonstrated quotation.</a:t>
            </a:r>
          </a:p>
          <a:p>
            <a:pPr>
              <a:spcAft>
                <a:spcPts val="1000"/>
              </a:spcAft>
              <a:defRPr sz="1250">
                <a:solidFill>
                  <a:srgbClr val="23272F"/>
                </a:solidFill>
                <a:latin typeface="Aptos"/>
              </a:defRPr>
            </a:pPr>
            <a:r>
              <a:t>• Applied 5% GST and generated the quotation total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559552"/>
            <a:ext cx="2743200" cy="384048"/>
          </a:xfrm>
          <a:prstGeom prst="roundRect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565099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SCREENSHOT 10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Business Process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How the modules and records connect in the completed Odoo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9202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4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70436F"/>
                </a:solidFill>
                <a:latin typeface="Aptos"/>
              </a:rPr>
              <a:t>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591056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23272F"/>
                </a:solidFill>
                <a:latin typeface="Aptos"/>
              </a:rPr>
              <a:t>SC Trading
business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487168"/>
            <a:ext cx="3200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666E7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828800"/>
            <a:ext cx="19202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9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05740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2699A0"/>
                </a:solidFill>
                <a:latin typeface="Aptos"/>
              </a:rPr>
              <a:t>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06040"/>
            <a:ext cx="1591056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23272F"/>
                </a:solidFill>
                <a:latin typeface="Aptos"/>
              </a:rPr>
              <a:t>Customer +
Supplier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487168"/>
            <a:ext cx="3200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666E7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1828800"/>
            <a:ext cx="19202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4376" y="205740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26304A"/>
                </a:solidFill>
                <a:latin typeface="Aptos"/>
              </a:rPr>
              <a:t>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2606040"/>
            <a:ext cx="1591056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23272F"/>
                </a:solidFill>
                <a:latin typeface="Aptos"/>
              </a:rPr>
              <a:t>Mobile Phone
T.V. UNIT + others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5" y="2487168"/>
            <a:ext cx="3200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666E7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1828800"/>
            <a:ext cx="19202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98664" y="205740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3D8C5D"/>
                </a:solidFill>
                <a:latin typeface="Aptos"/>
              </a:rPr>
              <a:t>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606040"/>
            <a:ext cx="1591056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23272F"/>
                </a:solidFill>
                <a:latin typeface="Aptos"/>
              </a:rPr>
              <a:t>Lead →
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487168"/>
            <a:ext cx="3200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666E7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65792" y="1828800"/>
            <a:ext cx="19202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04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205740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70436F"/>
                </a:solidFill>
                <a:latin typeface="Aptos"/>
              </a:rPr>
              <a:t>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0384" y="2606040"/>
            <a:ext cx="1591056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23272F"/>
                </a:solidFill>
                <a:latin typeface="Aptos"/>
              </a:rPr>
              <a:t>Quotation
S00002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6304A"/>
                </a:solidFill>
                <a:latin typeface="Aptos"/>
              </a:rPr>
              <a:t>Key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3272F"/>
                </a:solidFill>
                <a:latin typeface="Aptos"/>
              </a:defRPr>
            </a:pPr>
            <a:r>
              <a:t>• Master data must be created before transactional workflows.</a:t>
            </a:r>
          </a:p>
          <a:p>
            <a:pPr>
              <a:spcAft>
                <a:spcPts val="1000"/>
              </a:spcAft>
              <a:defRPr sz="1350">
                <a:solidFill>
                  <a:srgbClr val="23272F"/>
                </a:solidFill>
                <a:latin typeface="Aptos"/>
              </a:defRPr>
            </a:pPr>
            <a:r>
              <a:t>• CRM connects customer requirements with the sales pipeline.</a:t>
            </a:r>
          </a:p>
          <a:p>
            <a:pPr>
              <a:spcAft>
                <a:spcPts val="1000"/>
              </a:spcAft>
              <a:defRPr sz="1350">
                <a:solidFill>
                  <a:srgbClr val="23272F"/>
                </a:solidFill>
                <a:latin typeface="Aptos"/>
              </a:defRPr>
            </a:pPr>
            <a:r>
              <a:t>• Product configuration controls pricing, inventory tracking and taxes.</a:t>
            </a:r>
          </a:p>
          <a:p>
            <a:pPr>
              <a:spcAft>
                <a:spcPts val="1000"/>
              </a:spcAft>
              <a:defRPr sz="1350">
                <a:solidFill>
                  <a:srgbClr val="23272F"/>
                </a:solidFill>
                <a:latin typeface="Aptos"/>
              </a:defRPr>
            </a:pPr>
            <a:r>
              <a:t>• Odoo automatically carries configured information into quotations.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26304A"/>
                </a:solidFill>
                <a:latin typeface="Aptos"/>
              </a:rPr>
              <a:t>Project Outcomes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66E7B"/>
                </a:solidFill>
                <a:latin typeface="Aptos"/>
              </a:rPr>
              <a:t>Functional skills demonstrated through the practical Odoo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548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70436F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11064240" cy="32004"/>
          </a:xfrm>
          <a:prstGeom prst="rect">
            <a:avLst/>
          </a:prstGeom>
          <a:solidFill>
            <a:srgbClr val="269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502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99032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6304A"/>
                </a:solidFill>
                <a:latin typeface="Aptos"/>
              </a:rPr>
              <a:t>Company &amp;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399032"/>
            <a:ext cx="7040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666E7B"/>
                </a:solidFill>
                <a:latin typeface="Aptos"/>
              </a:rPr>
              <a:t>Set up the company environment and basic business information.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502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67712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6304A"/>
                </a:solidFill>
                <a:latin typeface="Aptos"/>
              </a:rPr>
              <a:t>Master Data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267712"/>
            <a:ext cx="7040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666E7B"/>
                </a:solidFill>
                <a:latin typeface="Aptos"/>
              </a:rPr>
              <a:t>Created and organized customers, suppliers, products and employee records.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3552"/>
            <a:ext cx="502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36392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6304A"/>
                </a:solidFill>
                <a:latin typeface="Aptos"/>
              </a:rPr>
              <a:t>Inventory &amp; Product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136392"/>
            <a:ext cx="7040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666E7B"/>
                </a:solidFill>
                <a:latin typeface="Aptos"/>
              </a:rPr>
              <a:t>Configured products, stock tracking, prices, categories and GST.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023359"/>
            <a:ext cx="502920" cy="502920"/>
          </a:xfrm>
          <a:prstGeom prst="ellipse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42231"/>
            <a:ext cx="502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005072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6304A"/>
                </a:solidFill>
                <a:latin typeface="Aptos"/>
              </a:rPr>
              <a:t>CRM &amp; Sales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005072"/>
            <a:ext cx="7040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666E7B"/>
                </a:solidFill>
                <a:latin typeface="Aptos"/>
              </a:rPr>
              <a:t>Created a lead, converted it to an opportunity and prepared a quotation.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892040"/>
            <a:ext cx="502920" cy="502920"/>
          </a:xfrm>
          <a:prstGeom prst="ellipse">
            <a:avLst/>
          </a:prstGeom>
          <a:solidFill>
            <a:srgbClr val="704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10912"/>
            <a:ext cx="502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73752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6304A"/>
                </a:solidFill>
                <a:latin typeface="Aptos"/>
              </a:rPr>
              <a:t>Integrated ERP Understanding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873752"/>
            <a:ext cx="7040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666E7B"/>
                </a:solidFill>
                <a:latin typeface="Aptos"/>
              </a:rPr>
              <a:t>Understood how Odoo modules share common business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715000"/>
            <a:ext cx="10789920" cy="566928"/>
          </a:xfrm>
          <a:prstGeom prst="roundRect">
            <a:avLst/>
          </a:prstGeom>
          <a:solidFill>
            <a:srgbClr val="F5F7FA"/>
          </a:solidFill>
          <a:ln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70448"/>
            <a:ext cx="10332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26304A"/>
                </a:solidFill>
                <a:latin typeface="Aptos"/>
              </a:rPr>
              <a:t>Conclusion: The project demonstrates a complete Odoo functional workflow from setup and master data to CRM and sales quotation.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6E7B"/>
                </a:solidFill>
                <a:latin typeface="Aptos"/>
              </a:rPr>
              <a:t>Odoo Functional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37960"/>
            <a:ext cx="2926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66E7B"/>
                </a:solidFill>
                <a:latin typeface="Aptos"/>
              </a:rPr>
              <a:t>Satyaki Chakraborty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